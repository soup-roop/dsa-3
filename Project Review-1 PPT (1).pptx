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4.svg" ContentType="image/svg+xml"/>
  <Override PartName="/ppt/media/image16.svg" ContentType="image/svg+xml"/>
  <Override PartName="/ppt/media/image18.svg" ContentType="image/svg+xml"/>
  <Override PartName="/ppt/media/image22.svg" ContentType="image/svg+xml"/>
  <Override PartName="/ppt/media/image2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1365" cy="6858000"/>
  <p:notesSz cx="6858000" cy="12191365"/>
  <p:embeddedFontLst>
    <p:embeddedFont>
      <p:font typeface="Dela Gothic One" panose="00000500000000000000" pitchFamily="34" charset="-128"/>
      <p:regular r:id="rId17"/>
    </p:embeddedFont>
    <p:embeddedFont>
      <p:font typeface="Dela Gothic One" panose="00000500000000000000" pitchFamily="34" charset="-122"/>
      <p:regular r:id="rId18"/>
    </p:embeddedFont>
    <p:embeddedFont>
      <p:font typeface="Dela Gothic One" panose="00000500000000000000" pitchFamily="34" charset="-120"/>
      <p:regular r:id="rId19"/>
    </p:embeddedFont>
    <p:embeddedFont>
      <p:font typeface="DM Sans" pitchFamily="34" charset="0"/>
      <p:regular r:id="rId20"/>
    </p:embeddedFont>
    <p:embeddedFont>
      <p:font typeface="DM Sans" pitchFamily="34" charset="-122"/>
      <p:regular r:id="rId21"/>
    </p:embeddedFont>
    <p:embeddedFont>
      <p:font typeface="DM Sans" pitchFamily="34" charset="-120"/>
      <p:regular r:id="rId22"/>
    </p:embeddedFont>
    <p:embeddedFont>
      <p:font typeface="Calibri" panose="020F0502020204030204" charset="0"/>
      <p:regular r:id="rId23"/>
      <p:bold r:id="rId24"/>
      <p:italic r:id="rId25"/>
      <p:boldItalic r:id="rId2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font" Target="fonts/font10.fntdata"/><Relationship Id="rId25" Type="http://schemas.openxmlformats.org/officeDocument/2006/relationships/font" Target="fonts/font9.fntdata"/><Relationship Id="rId24" Type="http://schemas.openxmlformats.org/officeDocument/2006/relationships/font" Target="fonts/font8.fntdata"/><Relationship Id="rId23" Type="http://schemas.openxmlformats.org/officeDocument/2006/relationships/font" Target="fonts/font7.fntdata"/><Relationship Id="rId22" Type="http://schemas.openxmlformats.org/officeDocument/2006/relationships/font" Target="fonts/font6.fntdata"/><Relationship Id="rId21" Type="http://schemas.openxmlformats.org/officeDocument/2006/relationships/font" Target="fonts/font5.fntdata"/><Relationship Id="rId20" Type="http://schemas.openxmlformats.org/officeDocument/2006/relationships/font" Target="fonts/font4.fntdata"/><Relationship Id="rId2" Type="http://schemas.openxmlformats.org/officeDocument/2006/relationships/theme" Target="theme/theme1.xml"/><Relationship Id="rId19" Type="http://schemas.openxmlformats.org/officeDocument/2006/relationships/font" Target="fonts/font3.fntdata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7.xml"/><Relationship Id="rId8" Type="http://schemas.openxmlformats.org/officeDocument/2006/relationships/slideLayout" Target="../slideLayouts/slideLayout3.xml"/><Relationship Id="rId7" Type="http://schemas.openxmlformats.org/officeDocument/2006/relationships/image" Target="../media/image18.svg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4.svg"/><Relationship Id="rId4" Type="http://schemas.openxmlformats.org/officeDocument/2006/relationships/image" Target="../media/image23.png"/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740B0B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88" y="135235"/>
            <a:ext cx="4391510" cy="65874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03794" y="1780877"/>
            <a:ext cx="6355993" cy="178177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AEBEB"/>
                </a:solidFill>
                <a:latin typeface="Dela Gothic One" panose="00000500000000000000" pitchFamily="34" charset="-128"/>
                <a:ea typeface="Dela Gothic One" panose="00000500000000000000" pitchFamily="34" charset="-122"/>
                <a:cs typeface="Dela Gothic One" panose="00000500000000000000" pitchFamily="34" charset="-120"/>
              </a:rPr>
              <a:t>Project Scheduling with Precedence Constraints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03794" y="3634780"/>
            <a:ext cx="6355993" cy="5937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AEBEB"/>
                </a:solidFill>
                <a:latin typeface="Dela Gothic One" panose="00000500000000000000" pitchFamily="34" charset="-128"/>
                <a:ea typeface="Dela Gothic One" panose="00000500000000000000" pitchFamily="34" charset="-122"/>
                <a:cs typeface="Dela Gothic One" panose="00000500000000000000" pitchFamily="34" charset="-120"/>
              </a:rPr>
              <a:t>A Graph-Based Dual-Engine Optimization System for Data Structures and Algorithms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5203794" y="4499273"/>
            <a:ext cx="6355993" cy="5778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Directed Acyclic Graphs • Overwatch (Managerial CPM) • Overdrive (Gamified Quests)</a:t>
            </a:r>
            <a:endParaRPr lang="en-US" sz="1400" dirty="0"/>
          </a:p>
        </p:txBody>
      </p:sp>
      <p:sp>
        <p:nvSpPr>
          <p:cNvPr id="7" name="Rectangles 6"/>
          <p:cNvSpPr/>
          <p:nvPr/>
        </p:nvSpPr>
        <p:spPr>
          <a:xfrm>
            <a:off x="10884535" y="6371590"/>
            <a:ext cx="1264285" cy="48641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2230537"/>
            <a:ext cx="10927878" cy="47505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FAEBEB"/>
                </a:solidFill>
                <a:latin typeface="Dela Gothic One" panose="00000500000000000000" pitchFamily="34" charset="-128"/>
                <a:ea typeface="Dela Gothic One" panose="00000500000000000000" pitchFamily="34" charset="-122"/>
                <a:cs typeface="Dela Gothic One" panose="00000500000000000000" pitchFamily="34" charset="-120"/>
              </a:rPr>
              <a:t>The Dual-Engine Concept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908" y="3066653"/>
            <a:ext cx="1551742" cy="959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09269" y="3066653"/>
            <a:ext cx="3573770" cy="2968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anose="00000500000000000000" pitchFamily="34" charset="-128"/>
                <a:ea typeface="Dela Gothic One" panose="00000500000000000000" pitchFamily="34" charset="-122"/>
                <a:cs typeface="Dela Gothic One" panose="00000500000000000000" pitchFamily="34" charset="-120"/>
              </a:rPr>
              <a:t>Overwatch Mode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2409269" y="3471763"/>
            <a:ext cx="3573770" cy="11557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       Sturdy managerial view focused on reliability: Critical Path Method, deadlock detection, and precise float/slack computation for schedule assurance.       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8656" y="3066653"/>
            <a:ext cx="1551742" cy="9590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986017" y="3066653"/>
            <a:ext cx="3573770" cy="2968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anose="00000500000000000000" pitchFamily="34" charset="-128"/>
                <a:ea typeface="Dela Gothic One" panose="00000500000000000000" pitchFamily="34" charset="-122"/>
                <a:cs typeface="Dela Gothic One" panose="00000500000000000000" pitchFamily="34" charset="-120"/>
              </a:rPr>
              <a:t>Overdrive Mode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7986017" y="3471763"/>
            <a:ext cx="3573770" cy="11557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High-octane gamified layer that converts bottlenecks into tiered quests, streaks, and EXP rewards to boost developer engagement and prioritization.</a:t>
            </a:r>
            <a:endParaRPr lang="en-US" sz="1400" dirty="0"/>
          </a:p>
        </p:txBody>
      </p:sp>
      <p:sp>
        <p:nvSpPr>
          <p:cNvPr id="9" name="Rectangles 8"/>
          <p:cNvSpPr/>
          <p:nvPr/>
        </p:nvSpPr>
        <p:spPr>
          <a:xfrm>
            <a:off x="10884535" y="6371590"/>
            <a:ext cx="1264285" cy="48641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740B0B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88" y="135235"/>
            <a:ext cx="4391510" cy="65874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03794" y="2024658"/>
            <a:ext cx="6355993" cy="47505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FAEBEB"/>
                </a:solidFill>
                <a:latin typeface="Dela Gothic One" panose="00000500000000000000" pitchFamily="34" charset="-128"/>
                <a:ea typeface="Dela Gothic One" panose="00000500000000000000" pitchFamily="34" charset="-122"/>
                <a:cs typeface="Dela Gothic One" panose="00000500000000000000" pitchFamily="34" charset="-120"/>
              </a:rPr>
              <a:t>Theoretical Graph Modeling</a:t>
            </a:r>
            <a:endParaRPr lang="en-US" sz="2950" dirty="0"/>
          </a:p>
        </p:txBody>
      </p:sp>
      <p:sp>
        <p:nvSpPr>
          <p:cNvPr id="5" name="Text 2"/>
          <p:cNvSpPr/>
          <p:nvPr/>
        </p:nvSpPr>
        <p:spPr>
          <a:xfrm>
            <a:off x="5203794" y="2770485"/>
            <a:ext cx="6355993" cy="8667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   Model: DAG G = (V, E). Each vertex v ∈ V represents a task with a duration; each directed edge (u → v) is a precedence constraint requiring u before v.   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203794" y="3840361"/>
            <a:ext cx="6355993" cy="992981"/>
          </a:xfrm>
          <a:prstGeom prst="rect">
            <a:avLst/>
          </a:prstGeom>
          <a:noFill/>
        </p:spPr>
        <p:txBody>
          <a:bodyPr wrap="square" lIns="0" tIns="72219" rIns="0" bIns="0" rtlCol="0" anchor="t">
            <a:normAutofit/>
          </a:bodyPr>
          <a:lstStyle/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Storage: Adjacency list for O(V + E) space.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Operations: Edge traversal and neighborhood queries in O(V + E) time.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Assumptions: No cycles; tasks have non-negative durations.</a:t>
            </a:r>
            <a:endParaRPr lang="en-US" sz="1400" dirty="0"/>
          </a:p>
        </p:txBody>
      </p:sp>
      <p:sp>
        <p:nvSpPr>
          <p:cNvPr id="7" name="Rectangles 6"/>
          <p:cNvSpPr/>
          <p:nvPr/>
        </p:nvSpPr>
        <p:spPr>
          <a:xfrm>
            <a:off x="10884535" y="6371590"/>
            <a:ext cx="1264285" cy="48641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14945"/>
            <a:ext cx="10927878" cy="4157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FAEBEB"/>
                </a:solidFill>
                <a:latin typeface="Dela Gothic One" panose="00000500000000000000" pitchFamily="34" charset="-128"/>
                <a:ea typeface="Dela Gothic One" panose="00000500000000000000" pitchFamily="34" charset="-122"/>
                <a:cs typeface="Dela Gothic One" panose="00000500000000000000" pitchFamily="34" charset="-120"/>
              </a:rPr>
              <a:t>Pipeline Architecture</a:t>
            </a:r>
            <a:endParaRPr lang="en-US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908" y="1670447"/>
            <a:ext cx="4139898" cy="41400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63512" y="1293416"/>
            <a:ext cx="315905" cy="1974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ela Gothic One" panose="00000500000000000000" pitchFamily="34" charset="-128"/>
                <a:ea typeface="Dela Gothic One" panose="00000500000000000000" pitchFamily="34" charset="-122"/>
                <a:cs typeface="Dela Gothic One" panose="00000500000000000000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163512" y="1542852"/>
            <a:ext cx="6402525" cy="19050"/>
          </a:xfrm>
          <a:prstGeom prst="rect">
            <a:avLst/>
          </a:prstGeom>
          <a:solidFill>
            <a:srgbClr val="C91313"/>
          </a:solidFill>
        </p:spPr>
      </p:sp>
      <p:sp>
        <p:nvSpPr>
          <p:cNvPr id="6" name="Text 3"/>
          <p:cNvSpPr/>
          <p:nvPr/>
        </p:nvSpPr>
        <p:spPr>
          <a:xfrm>
            <a:off x="5163512" y="1659930"/>
            <a:ext cx="6402525" cy="2597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anose="00000500000000000000" pitchFamily="34" charset="-128"/>
                <a:ea typeface="Dela Gothic One" panose="00000500000000000000" pitchFamily="34" charset="-122"/>
                <a:cs typeface="Dela Gothic One" panose="00000500000000000000" pitchFamily="34" charset="-120"/>
              </a:rPr>
              <a:t>1. Task ingestion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163512" y="2057896"/>
            <a:ext cx="6402525" cy="23693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Parse task metadata, durations, and dependency edges.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163512" y="2551509"/>
            <a:ext cx="315905" cy="1974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ela Gothic One" panose="00000500000000000000" pitchFamily="34" charset="-128"/>
                <a:ea typeface="Dela Gothic One" panose="00000500000000000000" pitchFamily="34" charset="-122"/>
                <a:cs typeface="Dela Gothic One" panose="00000500000000000000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163512" y="2800945"/>
            <a:ext cx="6402525" cy="19050"/>
          </a:xfrm>
          <a:prstGeom prst="rect">
            <a:avLst/>
          </a:prstGeom>
          <a:solidFill>
            <a:srgbClr val="C91313"/>
          </a:solidFill>
        </p:spPr>
      </p:sp>
      <p:sp>
        <p:nvSpPr>
          <p:cNvPr id="10" name="Text 7"/>
          <p:cNvSpPr/>
          <p:nvPr/>
        </p:nvSpPr>
        <p:spPr>
          <a:xfrm>
            <a:off x="5163512" y="2918023"/>
            <a:ext cx="6402525" cy="2597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anose="00000500000000000000" pitchFamily="34" charset="-128"/>
                <a:ea typeface="Dela Gothic One" panose="00000500000000000000" pitchFamily="34" charset="-122"/>
                <a:cs typeface="Dela Gothic One" panose="00000500000000000000" pitchFamily="34" charset="-120"/>
              </a:rPr>
              <a:t>2. Kahn's cycle detection &amp; topological sort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163512" y="3315990"/>
            <a:ext cx="6402525" cy="23693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Detect cycles; produce an execution order if acyclic.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163512" y="3809603"/>
            <a:ext cx="315905" cy="1974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ela Gothic One" panose="00000500000000000000" pitchFamily="34" charset="-128"/>
                <a:ea typeface="Dela Gothic One" panose="00000500000000000000" pitchFamily="34" charset="-122"/>
                <a:cs typeface="Dela Gothic One" panose="00000500000000000000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163512" y="4059039"/>
            <a:ext cx="6402525" cy="19050"/>
          </a:xfrm>
          <a:prstGeom prst="rect">
            <a:avLst/>
          </a:prstGeom>
          <a:solidFill>
            <a:srgbClr val="C91313"/>
          </a:solidFill>
        </p:spPr>
      </p:sp>
      <p:sp>
        <p:nvSpPr>
          <p:cNvPr id="14" name="Text 11"/>
          <p:cNvSpPr/>
          <p:nvPr/>
        </p:nvSpPr>
        <p:spPr>
          <a:xfrm>
            <a:off x="5163512" y="4176117"/>
            <a:ext cx="6402525" cy="2597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anose="00000500000000000000" pitchFamily="34" charset="-128"/>
                <a:ea typeface="Dela Gothic One" panose="00000500000000000000" pitchFamily="34" charset="-122"/>
                <a:cs typeface="Dela Gothic One" panose="00000500000000000000" pitchFamily="34" charset="-120"/>
              </a:rPr>
              <a:t>3. CPM calculation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163512" y="4574084"/>
            <a:ext cx="6402525" cy="23693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Compute EST/EFT and LST/LFT; identify critical path(s).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163512" y="5067697"/>
            <a:ext cx="315905" cy="1974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ela Gothic One" panose="00000500000000000000" pitchFamily="34" charset="-128"/>
                <a:ea typeface="Dela Gothic One" panose="00000500000000000000" pitchFamily="34" charset="-122"/>
                <a:cs typeface="Dela Gothic One" panose="00000500000000000000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163512" y="5317133"/>
            <a:ext cx="6402525" cy="19050"/>
          </a:xfrm>
          <a:prstGeom prst="rect">
            <a:avLst/>
          </a:prstGeom>
          <a:solidFill>
            <a:srgbClr val="C91313"/>
          </a:solidFill>
        </p:spPr>
      </p:sp>
      <p:sp>
        <p:nvSpPr>
          <p:cNvPr id="18" name="Text 15"/>
          <p:cNvSpPr/>
          <p:nvPr/>
        </p:nvSpPr>
        <p:spPr>
          <a:xfrm>
            <a:off x="5163512" y="5434211"/>
            <a:ext cx="6402525" cy="2597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anose="00000500000000000000" pitchFamily="34" charset="-128"/>
                <a:ea typeface="Dela Gothic One" panose="00000500000000000000" pitchFamily="34" charset="-122"/>
                <a:cs typeface="Dela Gothic One" panose="00000500000000000000" pitchFamily="34" charset="-120"/>
              </a:rPr>
              <a:t>4. Dual rendering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163512" y="5832177"/>
            <a:ext cx="6402525" cy="23693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Render Overwatch dashboard and Overdrive quest map simultaneously.</a:t>
            </a:r>
            <a:endParaRPr lang="en-US" sz="1200" dirty="0"/>
          </a:p>
        </p:txBody>
      </p:sp>
      <p:sp>
        <p:nvSpPr>
          <p:cNvPr id="20" name="Rectangles 19"/>
          <p:cNvSpPr/>
          <p:nvPr/>
        </p:nvSpPr>
        <p:spPr>
          <a:xfrm>
            <a:off x="10884535" y="6371590"/>
            <a:ext cx="1264285" cy="48641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740B0B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9997" y="135235"/>
            <a:ext cx="4391510" cy="65874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1908" y="871041"/>
            <a:ext cx="6355993" cy="95011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FAEBEB"/>
                </a:solidFill>
                <a:latin typeface="Dela Gothic One" panose="00000500000000000000" pitchFamily="34" charset="-128"/>
                <a:ea typeface="Dela Gothic One" panose="00000500000000000000" pitchFamily="34" charset="-122"/>
                <a:cs typeface="Dela Gothic One" panose="00000500000000000000" pitchFamily="34" charset="-120"/>
              </a:rPr>
              <a:t>Overwatch Mode — Manager Dashboard</a:t>
            </a:r>
            <a:endParaRPr lang="en-US" sz="2950" dirty="0"/>
          </a:p>
        </p:txBody>
      </p:sp>
      <p:sp>
        <p:nvSpPr>
          <p:cNvPr id="5" name="Text 2"/>
          <p:cNvSpPr/>
          <p:nvPr/>
        </p:nvSpPr>
        <p:spPr>
          <a:xfrm>
            <a:off x="631908" y="2091928"/>
            <a:ext cx="6965577" cy="2889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   Operational view designed for correctness and predictability.   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31908" y="2583954"/>
            <a:ext cx="1998315" cy="3402905"/>
          </a:xfrm>
          <a:prstGeom prst="roundRect">
            <a:avLst>
              <a:gd name="adj" fmla="val 3795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18733" y="2770783"/>
            <a:ext cx="1624666" cy="89058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anose="00000500000000000000" pitchFamily="34" charset="-128"/>
                <a:ea typeface="Dela Gothic One" panose="00000500000000000000" pitchFamily="34" charset="-122"/>
                <a:cs typeface="Dela Gothic One" panose="00000500000000000000" pitchFamily="34" charset="-120"/>
              </a:rPr>
              <a:t>Deadlock-free ordering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18733" y="3769618"/>
            <a:ext cx="1624666" cy="14446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Topological ordering ensures feasible execution sequences when DAG validated.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810698" y="2583954"/>
            <a:ext cx="1998315" cy="3402905"/>
          </a:xfrm>
          <a:prstGeom prst="roundRect">
            <a:avLst>
              <a:gd name="adj" fmla="val 3795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997522" y="2770783"/>
            <a:ext cx="1624666" cy="11874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anose="00000500000000000000" pitchFamily="34" charset="-128"/>
                <a:ea typeface="Dela Gothic One" panose="00000500000000000000" pitchFamily="34" charset="-122"/>
                <a:cs typeface="Dela Gothic One" panose="00000500000000000000" pitchFamily="34" charset="-120"/>
              </a:rPr>
              <a:t>Critical Path Identification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2997522" y="4066480"/>
            <a:ext cx="1624666" cy="17335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Tasks with zero slack are flagged as bottlenecks for prioritization and contingency planning.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989487" y="2583954"/>
            <a:ext cx="1998315" cy="3402905"/>
          </a:xfrm>
          <a:prstGeom prst="roundRect">
            <a:avLst>
              <a:gd name="adj" fmla="val 3795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176311" y="2770783"/>
            <a:ext cx="1624666" cy="5937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anose="00000500000000000000" pitchFamily="34" charset="-128"/>
                <a:ea typeface="Dela Gothic One" panose="00000500000000000000" pitchFamily="34" charset="-122"/>
                <a:cs typeface="Dela Gothic One" panose="00000500000000000000" pitchFamily="34" charset="-120"/>
              </a:rPr>
              <a:t>EST / EFT / LST / LFT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5176311" y="3472755"/>
            <a:ext cx="1624666" cy="14446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Earliest and latest time boundaries computed per task enable precise float calculations.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740B0B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9997" y="135235"/>
            <a:ext cx="4391510" cy="65874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1908" y="1324570"/>
            <a:ext cx="6355993" cy="95011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FAEBEB"/>
                </a:solidFill>
                <a:latin typeface="Dela Gothic One" panose="00000500000000000000" pitchFamily="34" charset="-128"/>
                <a:ea typeface="Dela Gothic One" panose="00000500000000000000" pitchFamily="34" charset="-122"/>
                <a:cs typeface="Dela Gothic One" panose="00000500000000000000" pitchFamily="34" charset="-120"/>
              </a:rPr>
              <a:t>Algorithmic Complexity &amp; Benchmarks</a:t>
            </a:r>
            <a:endParaRPr lang="en-US" sz="2950" dirty="0"/>
          </a:p>
        </p:txBody>
      </p:sp>
      <p:sp>
        <p:nvSpPr>
          <p:cNvPr id="5" name="Text 2"/>
          <p:cNvSpPr/>
          <p:nvPr/>
        </p:nvSpPr>
        <p:spPr>
          <a:xfrm>
            <a:off x="631908" y="2545457"/>
            <a:ext cx="6965577" cy="2889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   The core algorithms operate in linear time relative to graph size:   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31908" y="3037483"/>
            <a:ext cx="6355993" cy="1281906"/>
          </a:xfrm>
          <a:prstGeom prst="rect">
            <a:avLst/>
          </a:prstGeom>
          <a:noFill/>
        </p:spPr>
        <p:txBody>
          <a:bodyPr wrap="square" lIns="0" tIns="72219" rIns="0" bIns="0" rtlCol="0" anchor="t">
            <a:normAutofit/>
          </a:bodyPr>
          <a:lstStyle/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Topological sort &amp; Kahn's cycle detection: O(V + E) time, O(V + E) space.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CPM (forward/backward passes): O(V + E) — single pass per direction.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Memory: adjacency lists keep footprint minimal for large task graphs (thousands+ nodes).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31908" y="4522490"/>
            <a:ext cx="6355993" cy="1010841"/>
          </a:xfrm>
          <a:prstGeom prst="roundRect">
            <a:avLst>
              <a:gd name="adj" fmla="val 7502"/>
            </a:avLst>
          </a:prstGeom>
          <a:solidFill>
            <a:srgbClr val="740B0B"/>
          </a:solidFill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383" y="4780558"/>
            <a:ext cx="225618" cy="18047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18475" y="4748014"/>
            <a:ext cx="5588952" cy="5778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Designed for real-time resolution: typical production graphs (10k–100k edges) complete within interactive latency targets.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740B0B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7297" y="116185"/>
            <a:ext cx="4416910" cy="66255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1908" y="552450"/>
            <a:ext cx="6355993" cy="81657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FAEBEB"/>
                </a:solidFill>
                <a:latin typeface="Dela Gothic One" panose="00000500000000000000" pitchFamily="34" charset="-128"/>
                <a:ea typeface="Dela Gothic One" panose="00000500000000000000" pitchFamily="34" charset="-122"/>
                <a:cs typeface="Dela Gothic One" panose="00000500000000000000" pitchFamily="34" charset="-120"/>
              </a:rPr>
              <a:t>Overdrive Mode — Gamified Quest Engine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631908" y="1568946"/>
            <a:ext cx="6355993" cy="46156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   Translate scheduling signals into behavioral incentives to guide team focus without sacrificing correctness.   </a:t>
            </a: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1908" y="2180431"/>
            <a:ext cx="387836" cy="38784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1908" y="2734866"/>
            <a:ext cx="6355993" cy="2551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anose="00000500000000000000" pitchFamily="34" charset="-128"/>
                <a:ea typeface="Dela Gothic One" panose="00000500000000000000" pitchFamily="34" charset="-122"/>
                <a:cs typeface="Dela Gothic One" panose="00000500000000000000" pitchFamily="34" charset="-120"/>
              </a:rPr>
              <a:t>Boss Quests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31908" y="3070027"/>
            <a:ext cx="6355993" cy="2307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Critical-path tasks become boss-level challenges with team-wide priorities.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1908" y="3567410"/>
            <a:ext cx="387836" cy="38784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31908" y="4121845"/>
            <a:ext cx="6355993" cy="2551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anose="00000500000000000000" pitchFamily="34" charset="-128"/>
                <a:ea typeface="Dela Gothic One" panose="00000500000000000000" pitchFamily="34" charset="-122"/>
                <a:cs typeface="Dela Gothic One" panose="00000500000000000000" pitchFamily="34" charset="-120"/>
              </a:rPr>
              <a:t>Rarity &amp; Rewards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631908" y="4457005"/>
            <a:ext cx="6355993" cy="2307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Task rarity (Common→Legendary) maps to XP multipliers and visibility boosts.</a:t>
            </a:r>
            <a:endParaRPr lang="en-US" sz="12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1908" y="4954389"/>
            <a:ext cx="387836" cy="38784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31908" y="5508823"/>
            <a:ext cx="6355993" cy="2551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anose="00000500000000000000" pitchFamily="34" charset="-128"/>
                <a:ea typeface="Dela Gothic One" panose="00000500000000000000" pitchFamily="34" charset="-122"/>
                <a:cs typeface="Dela Gothic One" panose="00000500000000000000" pitchFamily="34" charset="-120"/>
              </a:rPr>
              <a:t>Streaks &amp; Priority Queues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631908" y="5843984"/>
            <a:ext cx="6355993" cy="46156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Priority-queue–based scheduling rewards consecutive on-time completions with increasing EXP.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1450181"/>
            <a:ext cx="10927878" cy="47505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FAEBEB"/>
                </a:solidFill>
                <a:latin typeface="Dela Gothic One" panose="00000500000000000000" pitchFamily="34" charset="-128"/>
                <a:ea typeface="Dela Gothic One" panose="00000500000000000000" pitchFamily="34" charset="-122"/>
                <a:cs typeface="Dela Gothic One" panose="00000500000000000000" pitchFamily="34" charset="-120"/>
              </a:rPr>
              <a:t>Task Rarity Matrix</a:t>
            </a:r>
            <a:endParaRPr lang="en-US" sz="29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631908" y="2286298"/>
          <a:ext cx="10927879" cy="3108642"/>
        </p:xfrm>
        <a:graphic>
          <a:graphicData uri="http://schemas.openxmlformats.org/drawingml/2006/table">
            <a:tbl>
              <a:tblPr/>
              <a:tblGrid>
                <a:gridCol w="2185576"/>
                <a:gridCol w="8742303"/>
              </a:tblGrid>
              <a:tr h="5181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Rarity</a:t>
                      </a:r>
                      <a:endParaRPr lang="en-US" sz="1400" dirty="0">
                        <a:latin typeface="DM Sans" pitchFamily="34" charset="0"/>
                        <a:ea typeface="DM Sans" pitchFamily="34" charset="0"/>
                        <a:cs typeface="DM Sans" pitchFamily="34" charset="0"/>
                      </a:endParaRPr>
                    </a:p>
                  </a:txBody>
                  <a:tcPr marL="180548" marR="180548" marT="6350" marB="6350" anchor="ctr">
                    <a:lnL w="12700" cap="flat" cmpd="sng" algn="ctr">
                      <a:solidFill>
                        <a:srgbClr val="8D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13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13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131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Definition / Examples</a:t>
                      </a:r>
                      <a:endParaRPr lang="en-US" sz="1400" dirty="0">
                        <a:latin typeface="DM Sans" pitchFamily="34" charset="0"/>
                        <a:ea typeface="DM Sans" pitchFamily="34" charset="0"/>
                        <a:cs typeface="DM Sans" pitchFamily="34" charset="0"/>
                      </a:endParaRPr>
                    </a:p>
                  </a:txBody>
                  <a:tcPr marL="180548" marR="180548" marT="6350" marB="6350" anchor="ctr">
                    <a:lnL w="12700" cap="flat" cmpd="sng" algn="ctr">
                      <a:solidFill>
                        <a:srgbClr val="C913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13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1313"/>
                    </a:solidFill>
                  </a:tcPr>
                </a:tc>
              </a:tr>
              <a:tr h="5181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E5E5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Common</a:t>
                      </a:r>
                      <a:endParaRPr lang="en-US" sz="1400" dirty="0">
                        <a:latin typeface="DM Sans" pitchFamily="34" charset="0"/>
                        <a:ea typeface="DM Sans" pitchFamily="34" charset="0"/>
                        <a:cs typeface="DM Sans" pitchFamily="34" charset="0"/>
                      </a:endParaRPr>
                    </a:p>
                  </a:txBody>
                  <a:tcPr marL="180548" marR="18054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E5E5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Basic setup tasks: small, independent, low-degree vertices.</a:t>
                      </a:r>
                      <a:endParaRPr lang="en-US" sz="1400" dirty="0">
                        <a:latin typeface="DM Sans" pitchFamily="34" charset="0"/>
                        <a:ea typeface="DM Sans" pitchFamily="34" charset="0"/>
                        <a:cs typeface="DM Sans" pitchFamily="34" charset="0"/>
                      </a:endParaRPr>
                    </a:p>
                  </a:txBody>
                  <a:tcPr marL="180548" marR="18054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5181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E5E5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Uncommon</a:t>
                      </a:r>
                      <a:endParaRPr lang="en-US" sz="1400" dirty="0">
                        <a:latin typeface="DM Sans" pitchFamily="34" charset="0"/>
                        <a:ea typeface="DM Sans" pitchFamily="34" charset="0"/>
                        <a:cs typeface="DM Sans" pitchFamily="34" charset="0"/>
                      </a:endParaRPr>
                    </a:p>
                  </a:txBody>
                  <a:tcPr marL="180548" marR="18054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E5E5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Standard tasks with a few dependencies; short-duration contributors.</a:t>
                      </a:r>
                      <a:endParaRPr lang="en-US" sz="1400" dirty="0">
                        <a:latin typeface="DM Sans" pitchFamily="34" charset="0"/>
                        <a:ea typeface="DM Sans" pitchFamily="34" charset="0"/>
                        <a:cs typeface="DM Sans" pitchFamily="34" charset="0"/>
                      </a:endParaRPr>
                    </a:p>
                  </a:txBody>
                  <a:tcPr marL="180548" marR="18054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5181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E5E5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Rare</a:t>
                      </a:r>
                      <a:endParaRPr lang="en-US" sz="1400" dirty="0">
                        <a:latin typeface="DM Sans" pitchFamily="34" charset="0"/>
                        <a:ea typeface="DM Sans" pitchFamily="34" charset="0"/>
                        <a:cs typeface="DM Sans" pitchFamily="34" charset="0"/>
                      </a:endParaRPr>
                    </a:p>
                  </a:txBody>
                  <a:tcPr marL="180548" marR="18054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E5E5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Hub nodes with high in/out degree — potential local bottlenecks.</a:t>
                      </a:r>
                      <a:endParaRPr lang="en-US" sz="1400" dirty="0">
                        <a:latin typeface="DM Sans" pitchFamily="34" charset="0"/>
                        <a:ea typeface="DM Sans" pitchFamily="34" charset="0"/>
                        <a:cs typeface="DM Sans" pitchFamily="34" charset="0"/>
                      </a:endParaRPr>
                    </a:p>
                  </a:txBody>
                  <a:tcPr marL="180548" marR="18054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5181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E5E5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Epic</a:t>
                      </a:r>
                      <a:endParaRPr lang="en-US" sz="1400" dirty="0">
                        <a:latin typeface="DM Sans" pitchFamily="34" charset="0"/>
                        <a:ea typeface="DM Sans" pitchFamily="34" charset="0"/>
                        <a:cs typeface="DM Sans" pitchFamily="34" charset="0"/>
                      </a:endParaRPr>
                    </a:p>
                  </a:txBody>
                  <a:tcPr marL="180548" marR="18054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E5E5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Sub-critical milestones whose delay affects downstream parallelism.</a:t>
                      </a:r>
                      <a:endParaRPr lang="en-US" sz="1400" dirty="0">
                        <a:latin typeface="DM Sans" pitchFamily="34" charset="0"/>
                        <a:ea typeface="DM Sans" pitchFamily="34" charset="0"/>
                        <a:cs typeface="DM Sans" pitchFamily="34" charset="0"/>
                      </a:endParaRPr>
                    </a:p>
                  </a:txBody>
                  <a:tcPr marL="180548" marR="18054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5181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E5E5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Legendary</a:t>
                      </a:r>
                      <a:endParaRPr lang="en-US" sz="1400" dirty="0">
                        <a:latin typeface="DM Sans" pitchFamily="34" charset="0"/>
                        <a:ea typeface="DM Sans" pitchFamily="34" charset="0"/>
                        <a:cs typeface="DM Sans" pitchFamily="34" charset="0"/>
                      </a:endParaRPr>
                    </a:p>
                  </a:txBody>
                  <a:tcPr marL="180548" marR="18054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E5E5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Apex critical-path boss tasks: zero slack, highest priority in Overwatch and Overdrive.</a:t>
                      </a:r>
                      <a:endParaRPr lang="en-US" sz="1400" dirty="0">
                        <a:latin typeface="DM Sans" pitchFamily="34" charset="0"/>
                        <a:ea typeface="DM Sans" pitchFamily="34" charset="0"/>
                        <a:cs typeface="DM Sans" pitchFamily="34" charset="0"/>
                      </a:endParaRPr>
                    </a:p>
                  </a:txBody>
                  <a:tcPr marL="180548" marR="18054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" name="Rectangles 6"/>
          <p:cNvSpPr/>
          <p:nvPr/>
        </p:nvSpPr>
        <p:spPr>
          <a:xfrm>
            <a:off x="10884535" y="6371590"/>
            <a:ext cx="1264285" cy="48641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503" y="499765"/>
            <a:ext cx="10546590" cy="51553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56252" y="2265337"/>
            <a:ext cx="2587965" cy="3235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FFE5E5"/>
                </a:solidFill>
                <a:latin typeface="Dela Gothic One" panose="00000500000000000000" pitchFamily="34" charset="-128"/>
                <a:ea typeface="Dela Gothic One" panose="00000500000000000000" pitchFamily="34" charset="-122"/>
                <a:cs typeface="Dela Gothic One" panose="00000500000000000000" pitchFamily="34" charset="-120"/>
              </a:rPr>
              <a:t>Ingestion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6834287" y="1085126"/>
            <a:ext cx="2587965" cy="3235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FFE5E5"/>
                </a:solidFill>
                <a:latin typeface="Dela Gothic One" panose="00000500000000000000" pitchFamily="34" charset="-128"/>
                <a:ea typeface="Dela Gothic One" panose="00000500000000000000" pitchFamily="34" charset="-122"/>
                <a:cs typeface="Dela Gothic One" panose="00000500000000000000" pitchFamily="34" charset="-120"/>
              </a:rPr>
              <a:t>Validation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047080" y="3511115"/>
            <a:ext cx="2587965" cy="3235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FFE5E5"/>
                </a:solidFill>
                <a:latin typeface="Dela Gothic One" panose="00000500000000000000" pitchFamily="34" charset="-128"/>
                <a:ea typeface="Dela Gothic One" panose="00000500000000000000" pitchFamily="34" charset="-122"/>
                <a:cs typeface="Dela Gothic One" panose="00000500000000000000" pitchFamily="34" charset="-120"/>
              </a:rPr>
              <a:t>Optimization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2758289" y="4713182"/>
            <a:ext cx="2587965" cy="32356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FFE5E5"/>
                </a:solidFill>
                <a:latin typeface="Dela Gothic One" panose="00000500000000000000" pitchFamily="34" charset="-128"/>
                <a:ea typeface="Dela Gothic One" panose="00000500000000000000" pitchFamily="34" charset="-122"/>
                <a:cs typeface="Dela Gothic One" panose="00000500000000000000" pitchFamily="34" charset="-120"/>
              </a:rPr>
              <a:t>Dual Rendering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31908" y="5833566"/>
            <a:ext cx="10927878" cy="5246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Lifecycle overview: ingest tasks → validate acyclicity and constraints → optimize schedule via CPM and priority heuristics → render both managerial and gamified views for execution.</a:t>
            </a:r>
            <a:endParaRPr lang="en-US" sz="1300" dirty="0"/>
          </a:p>
        </p:txBody>
      </p:sp>
      <p:sp>
        <p:nvSpPr>
          <p:cNvPr id="8" name="Rectangles 7"/>
          <p:cNvSpPr/>
          <p:nvPr/>
        </p:nvSpPr>
        <p:spPr>
          <a:xfrm>
            <a:off x="10884535" y="6371590"/>
            <a:ext cx="1264285" cy="48641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740B0B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5908" y="114102"/>
            <a:ext cx="4419688" cy="66296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1908" y="497979"/>
            <a:ext cx="6355993" cy="8016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FAEBEB"/>
                </a:solidFill>
                <a:latin typeface="Dela Gothic One" panose="00000500000000000000" pitchFamily="34" charset="-128"/>
                <a:ea typeface="Dela Gothic One" panose="00000500000000000000" pitchFamily="34" charset="-122"/>
                <a:cs typeface="Dela Gothic One" panose="00000500000000000000" pitchFamily="34" charset="-120"/>
              </a:rPr>
              <a:t>Expected Outcomes &amp; Next Steps</a:t>
            </a:r>
            <a:endParaRPr lang="en-US" sz="25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1908" y="1492448"/>
            <a:ext cx="3113704" cy="159474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79453" y="1663799"/>
            <a:ext cx="2694813" cy="50105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FFE5E5"/>
                </a:solidFill>
                <a:latin typeface="Dela Gothic One" panose="00000500000000000000" pitchFamily="34" charset="-128"/>
                <a:ea typeface="Dela Gothic One" panose="00000500000000000000" pitchFamily="34" charset="-122"/>
                <a:cs typeface="Dela Gothic One" panose="00000500000000000000" pitchFamily="34" charset="-120"/>
              </a:rPr>
              <a:t>Correct, conflict-free schedules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879453" y="2241947"/>
            <a:ext cx="2694813" cy="67389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Topological guarantees plus CPM ensure valid execution orders and transparent slack metrics.</a:t>
            </a:r>
            <a:endParaRPr lang="en-US" sz="11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74098" y="1492448"/>
            <a:ext cx="3113803" cy="159474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121642" y="1663799"/>
            <a:ext cx="2694912" cy="50105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FFE5E5"/>
                </a:solidFill>
                <a:latin typeface="Dela Gothic One" panose="00000500000000000000" pitchFamily="34" charset="-128"/>
                <a:ea typeface="Dela Gothic One" panose="00000500000000000000" pitchFamily="34" charset="-122"/>
                <a:cs typeface="Dela Gothic One" panose="00000500000000000000" pitchFamily="34" charset="-120"/>
              </a:rPr>
              <a:t>Precise bottleneck detection</a:t>
            </a:r>
            <a:endParaRPr lang="en-US" sz="1550" dirty="0"/>
          </a:p>
        </p:txBody>
      </p:sp>
      <p:sp>
        <p:nvSpPr>
          <p:cNvPr id="10" name="Text 5"/>
          <p:cNvSpPr/>
          <p:nvPr/>
        </p:nvSpPr>
        <p:spPr>
          <a:xfrm>
            <a:off x="4121642" y="2241947"/>
            <a:ext cx="2694912" cy="67389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Zero-slack tasks surfaced for mitigation and targeted resource allocation.</a:t>
            </a:r>
            <a:endParaRPr lang="en-US" sz="11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1908" y="3215680"/>
            <a:ext cx="3113704" cy="181937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79453" y="3387030"/>
            <a:ext cx="2694813" cy="50105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FFE5E5"/>
                </a:solidFill>
                <a:latin typeface="Dela Gothic One" panose="00000500000000000000" pitchFamily="34" charset="-128"/>
                <a:ea typeface="Dela Gothic One" panose="00000500000000000000" pitchFamily="34" charset="-122"/>
                <a:cs typeface="Dela Gothic One" panose="00000500000000000000" pitchFamily="34" charset="-120"/>
              </a:rPr>
              <a:t>Engagement through gamification</a:t>
            </a:r>
            <a:endParaRPr lang="en-US" sz="1550" dirty="0"/>
          </a:p>
        </p:txBody>
      </p:sp>
      <p:sp>
        <p:nvSpPr>
          <p:cNvPr id="13" name="Text 7"/>
          <p:cNvSpPr/>
          <p:nvPr/>
        </p:nvSpPr>
        <p:spPr>
          <a:xfrm>
            <a:off x="879453" y="3965178"/>
            <a:ext cx="2694813" cy="8985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Overdrive mechanics encourage timely completions and strategic parallelism without compromising correctness.</a:t>
            </a:r>
            <a:endParaRPr lang="en-US" sz="11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74098" y="3215680"/>
            <a:ext cx="3113803" cy="181937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121642" y="3387030"/>
            <a:ext cx="2694912" cy="2505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FFE5E5"/>
                </a:solidFill>
                <a:latin typeface="Dela Gothic One" panose="00000500000000000000" pitchFamily="34" charset="-128"/>
                <a:ea typeface="Dela Gothic One" panose="00000500000000000000" pitchFamily="34" charset="-122"/>
                <a:cs typeface="Dela Gothic One" panose="00000500000000000000" pitchFamily="34" charset="-120"/>
              </a:rPr>
              <a:t>Deliverables</a:t>
            </a:r>
            <a:endParaRPr lang="en-US" sz="1550" dirty="0"/>
          </a:p>
        </p:txBody>
      </p:sp>
      <p:sp>
        <p:nvSpPr>
          <p:cNvPr id="16" name="Text 9"/>
          <p:cNvSpPr/>
          <p:nvPr/>
        </p:nvSpPr>
        <p:spPr>
          <a:xfrm>
            <a:off x="4121642" y="3714651"/>
            <a:ext cx="2694912" cy="8985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Prototype implementation, benchmark suite (O(V+E) verification), demo dashboards for Overwatch &amp; Overdrive, and integration guide.</a:t>
            </a:r>
            <a:endParaRPr lang="en-US" sz="1150" dirty="0"/>
          </a:p>
        </p:txBody>
      </p:sp>
      <p:sp>
        <p:nvSpPr>
          <p:cNvPr id="17" name="Shape 10"/>
          <p:cNvSpPr/>
          <p:nvPr/>
        </p:nvSpPr>
        <p:spPr>
          <a:xfrm>
            <a:off x="631908" y="5217616"/>
            <a:ext cx="6355993" cy="19050"/>
          </a:xfrm>
          <a:prstGeom prst="roundRect">
            <a:avLst>
              <a:gd name="adj" fmla="val 49999"/>
            </a:avLst>
          </a:prstGeom>
          <a:solidFill>
            <a:srgbClr val="FFE5E5">
              <a:alpha val="50000"/>
            </a:srgbClr>
          </a:solidFill>
        </p:spPr>
      </p:sp>
      <p:sp>
        <p:nvSpPr>
          <p:cNvPr id="18" name="Text 11"/>
          <p:cNvSpPr/>
          <p:nvPr/>
        </p:nvSpPr>
        <p:spPr>
          <a:xfrm>
            <a:off x="631908" y="5467449"/>
            <a:ext cx="6355993" cy="2505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FAEBEB"/>
                </a:solidFill>
                <a:latin typeface="Dela Gothic One" panose="00000500000000000000" pitchFamily="34" charset="-128"/>
                <a:ea typeface="Dela Gothic One" panose="00000500000000000000" pitchFamily="34" charset="-122"/>
                <a:cs typeface="Dela Gothic One" panose="00000500000000000000" pitchFamily="34" charset="-120"/>
              </a:rPr>
              <a:t>Questions?</a:t>
            </a:r>
            <a:endParaRPr lang="en-US" sz="1550" dirty="0"/>
          </a:p>
        </p:txBody>
      </p:sp>
      <p:sp>
        <p:nvSpPr>
          <p:cNvPr id="19" name="Text 12"/>
          <p:cNvSpPr/>
          <p:nvPr/>
        </p:nvSpPr>
        <p:spPr>
          <a:xfrm>
            <a:off x="631908" y="5910759"/>
            <a:ext cx="6355993" cy="44926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Combine algorithmic rigor with behavioral design — ready for technical review and live demo.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3908</Words>
  <Application>WPS Presentation</Application>
  <PresentationFormat>On-screen Show (16:9)</PresentationFormat>
  <Paragraphs>150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SimSun</vt:lpstr>
      <vt:lpstr>Wingdings</vt:lpstr>
      <vt:lpstr>Dela Gothic One</vt:lpstr>
      <vt:lpstr>Dela Gothic One</vt:lpstr>
      <vt:lpstr>Dela Gothic One</vt:lpstr>
      <vt:lpstr>DM Sans</vt:lpstr>
      <vt:lpstr>DM Sans</vt:lpstr>
      <vt:lpstr>DM Sans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Aakash Dadhirao</cp:lastModifiedBy>
  <cp:revision>2</cp:revision>
  <dcterms:created xsi:type="dcterms:W3CDTF">2026-08-28T03:44:00Z</dcterms:created>
  <dcterms:modified xsi:type="dcterms:W3CDTF">2026-08-28T03:45:57Z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F8117FDDA1FD4F21AC4A420F4AFAB32B_12</vt:lpwstr>
  </property>
  <property fmtid="{D5CDD505-2E9C-101B-9397-08002B2CF9AE}" pid="3" name="KSOProductBuildVer">
    <vt:lpwstr>2057-12.2.0.23206</vt:lpwstr>
  </property>
</Properties>
</file>